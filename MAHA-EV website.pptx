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b3f1d377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b3f1d377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b3f1d3779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b3f1d3779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b3f1d3779_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b3f1d3779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b3f1d3779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b3f1d3779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b3f1d3779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b3f1d3779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b3f1d3779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b3f1d3779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b3f1d3779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b3f1d3779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labs.iitgn.ac.in/spel/staff.html" TargetMode="External"/><Relationship Id="rId4" Type="http://schemas.openxmlformats.org/officeDocument/2006/relationships/hyperlink" Target="https://labs.iitgn.ac.in/spel/principal%20investigator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832050" y="1134975"/>
            <a:ext cx="7479900" cy="113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0BB941"/>
                </a:solidFill>
              </a:rPr>
              <a:t>SMART BATTERY SAFETY DIAGNOSTIC SYSTEM</a:t>
            </a:r>
            <a:endParaRPr sz="3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483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br>
              <a:rPr b="1" lang="en-GB" sz="2400">
                <a:solidFill>
                  <a:srgbClr val="0BB941"/>
                </a:solidFill>
              </a:rPr>
            </a:br>
            <a:r>
              <a:rPr b="1" lang="en-GB" sz="2400">
                <a:solidFill>
                  <a:srgbClr val="0BB941"/>
                </a:solidFill>
              </a:rPr>
              <a:t>ANRF MAHA-EV project</a:t>
            </a:r>
            <a:endParaRPr sz="2400"/>
          </a:p>
        </p:txBody>
      </p:sp>
      <p:grpSp>
        <p:nvGrpSpPr>
          <p:cNvPr id="56" name="Google Shape;56;p13"/>
          <p:cNvGrpSpPr/>
          <p:nvPr/>
        </p:nvGrpSpPr>
        <p:grpSpPr>
          <a:xfrm>
            <a:off x="0" y="0"/>
            <a:ext cx="9144000" cy="569214"/>
            <a:chOff x="0" y="0"/>
            <a:chExt cx="12192000" cy="758952"/>
          </a:xfrm>
        </p:grpSpPr>
        <p:pic>
          <p:nvPicPr>
            <p:cNvPr id="57" name="Google Shape;57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778778" y="0"/>
              <a:ext cx="1413222" cy="758952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br" dir="13500000" dist="28575">
                <a:srgbClr val="000000">
                  <a:alpha val="40000"/>
                </a:srgbClr>
              </a:outerShdw>
            </a:effectLst>
          </p:spPr>
        </p:pic>
        <p:pic>
          <p:nvPicPr>
            <p:cNvPr id="58" name="Google Shape;58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799096" cy="7589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13"/>
          <p:cNvSpPr txBox="1"/>
          <p:nvPr/>
        </p:nvSpPr>
        <p:spPr>
          <a:xfrm>
            <a:off x="311700" y="4419600"/>
            <a:ext cx="32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Enphase Solar Energy Pvt. Ltd logo ?</a:t>
            </a:r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6200" y="4173898"/>
            <a:ext cx="1847848" cy="8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22222"/>
                </a:solidFill>
                <a:highlight>
                  <a:srgbClr val="FFFFFF"/>
                </a:highlight>
              </a:rPr>
              <a:t>Team</a:t>
            </a:r>
            <a:endParaRPr sz="3000"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443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32323"/>
                </a:solidFill>
                <a:highlight>
                  <a:srgbClr val="FFFFFF"/>
                </a:highlight>
              </a:rPr>
              <a:t>Prof. Pallavi Bharadwaj, PI</a:t>
            </a:r>
            <a:endParaRPr b="1" sz="1000">
              <a:solidFill>
                <a:srgbClr val="23232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rgbClr val="232323"/>
                </a:solidFill>
                <a:highlight>
                  <a:srgbClr val="FFFFFF"/>
                </a:highlight>
              </a:rPr>
              <a:t>Dr Sanjeev Patil, Project Manager</a:t>
            </a:r>
            <a:endParaRPr b="1" sz="1000">
              <a:solidFill>
                <a:srgbClr val="23232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rgbClr val="232323"/>
                </a:solidFill>
                <a:highlight>
                  <a:srgbClr val="FFFFFF"/>
                </a:highlight>
              </a:rPr>
              <a:t>Dr Ashish Prajapati, Project Scientist-II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rgbClr val="232323"/>
                </a:solidFill>
                <a:highlight>
                  <a:srgbClr val="FFFFFF"/>
                </a:highlight>
              </a:rPr>
              <a:t>Dr. Sirsa Aditya, Project Scientist-I</a:t>
            </a:r>
            <a:endParaRPr b="1" sz="1000">
              <a:solidFill>
                <a:srgbClr val="23232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32323"/>
                </a:solidFill>
                <a:highlight>
                  <a:srgbClr val="FFFFFF"/>
                </a:highlight>
              </a:rPr>
              <a:t>Samsaptak Ghosh, Project Scientist-I</a:t>
            </a:r>
            <a:endParaRPr b="1" sz="1000">
              <a:solidFill>
                <a:srgbClr val="23232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32323"/>
                </a:solidFill>
                <a:highlight>
                  <a:srgbClr val="FFFFFF"/>
                </a:highlight>
              </a:rPr>
              <a:t>Shiv Shankar Sinha PhD Student</a:t>
            </a:r>
            <a:endParaRPr b="1" sz="1000">
              <a:solidFill>
                <a:srgbClr val="23232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32323"/>
                </a:solidFill>
                <a:highlight>
                  <a:srgbClr val="FFFFFF"/>
                </a:highlight>
              </a:rPr>
              <a:t>Yash Nileshkumar Desai MTech Student</a:t>
            </a:r>
            <a:endParaRPr b="1" sz="1000">
              <a:solidFill>
                <a:srgbClr val="23232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32323"/>
                </a:solidFill>
                <a:highlight>
                  <a:srgbClr val="FFFFFF"/>
                </a:highlight>
              </a:rPr>
              <a:t>Ambika Biswas Neela PhD Student</a:t>
            </a:r>
            <a:endParaRPr b="1" sz="1000">
              <a:solidFill>
                <a:srgbClr val="23232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32323"/>
                </a:solidFill>
                <a:highlight>
                  <a:srgbClr val="FFFFFF"/>
                </a:highlight>
              </a:rPr>
              <a:t>Arpita Sarcar 	PhD Student</a:t>
            </a:r>
            <a:endParaRPr b="1" sz="1000">
              <a:solidFill>
                <a:srgbClr val="23232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1" lang="en-GB" sz="1000">
                <a:solidFill>
                  <a:srgbClr val="232323"/>
                </a:solidFill>
                <a:highlight>
                  <a:srgbClr val="FFFFFF"/>
                </a:highlight>
              </a:rPr>
              <a:t>Harsh Kumar PhD Student</a:t>
            </a:r>
            <a:endParaRPr sz="1000"/>
          </a:p>
        </p:txBody>
      </p:sp>
      <p:sp>
        <p:nvSpPr>
          <p:cNvPr id="67" name="Google Shape;67;p14"/>
          <p:cNvSpPr txBox="1"/>
          <p:nvPr/>
        </p:nvSpPr>
        <p:spPr>
          <a:xfrm>
            <a:off x="4743100" y="1238000"/>
            <a:ext cx="39432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Resources: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https://labs.iitgn.ac.in/spel/staff.html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 u="sng">
                <a:solidFill>
                  <a:schemeClr val="hlink"/>
                </a:solidFill>
                <a:hlinkClick r:id="rId4"/>
              </a:rPr>
              <a:t>https://labs.iitgn.ac.in/spel/principal%20investigator.html</a:t>
            </a:r>
            <a:r>
              <a:rPr lang="en-GB" sz="1000">
                <a:solidFill>
                  <a:schemeClr val="dk2"/>
                </a:solidFill>
              </a:rPr>
              <a:t>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22222"/>
                </a:solidFill>
                <a:highlight>
                  <a:srgbClr val="FFFFFF"/>
                </a:highlight>
              </a:rPr>
              <a:t>Objectives</a:t>
            </a:r>
            <a:endParaRPr sz="3000"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85800"/>
            <a:ext cx="57340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219075" y="3238500"/>
            <a:ext cx="8820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❖"/>
            </a:pPr>
            <a:r>
              <a:rPr b="1" lang="en-GB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Electrothermal abuse (ETA) test  setup under development for battery-abuse data collection:</a:t>
            </a:r>
            <a:endParaRPr b="1"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❖"/>
            </a:pPr>
            <a:r>
              <a:rPr b="1" lang="en-GB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Digital Twin based Adaptive RL:</a:t>
            </a:r>
            <a:endParaRPr b="1"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❖"/>
            </a:pPr>
            <a:r>
              <a:rPr b="1" lang="en-GB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Anomaly Detection using Deep Learning:</a:t>
            </a:r>
            <a:br>
              <a:rPr b="1" lang="en-GB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22222"/>
                </a:solidFill>
                <a:highlight>
                  <a:srgbClr val="FFFFFF"/>
                </a:highlight>
              </a:rPr>
              <a:t>Objectives</a:t>
            </a:r>
            <a:endParaRPr sz="3000"/>
          </a:p>
        </p:txBody>
      </p:sp>
      <p:sp>
        <p:nvSpPr>
          <p:cNvPr id="80" name="Google Shape;80;p16"/>
          <p:cNvSpPr txBox="1"/>
          <p:nvPr/>
        </p:nvSpPr>
        <p:spPr>
          <a:xfrm>
            <a:off x="104775" y="819150"/>
            <a:ext cx="8820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❖"/>
            </a:pPr>
            <a:r>
              <a:rPr b="1" lang="en-GB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Anomaly Detection using Deep Learning:</a:t>
            </a:r>
            <a:endParaRPr b="1"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" y="1628775"/>
            <a:ext cx="573405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22222"/>
                </a:solidFill>
                <a:highlight>
                  <a:srgbClr val="FFFFFF"/>
                </a:highlight>
              </a:rPr>
              <a:t>Objectives</a:t>
            </a:r>
            <a:endParaRPr sz="3000"/>
          </a:p>
        </p:txBody>
      </p:sp>
      <p:sp>
        <p:nvSpPr>
          <p:cNvPr id="87" name="Google Shape;87;p17"/>
          <p:cNvSpPr txBox="1"/>
          <p:nvPr/>
        </p:nvSpPr>
        <p:spPr>
          <a:xfrm>
            <a:off x="104775" y="819150"/>
            <a:ext cx="8820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❖"/>
            </a:pPr>
            <a:r>
              <a:rPr b="1" lang="en-GB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Digital Twin based Adaptive RL:</a:t>
            </a:r>
            <a:endParaRPr b="1"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47800"/>
            <a:ext cx="2524125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311700" y="29806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Absolute Error: 0.012 ℃  </a:t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3381375" y="30245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Absolute % Error: 0.39%</a:t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7100" y="1400850"/>
            <a:ext cx="2524125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8163" y="1491000"/>
            <a:ext cx="2524125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5991225" y="31146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Uncertainty aware temperature prediction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22222"/>
                </a:solidFill>
                <a:highlight>
                  <a:srgbClr val="FFFFFF"/>
                </a:highlight>
              </a:rPr>
              <a:t>Deliverables</a:t>
            </a:r>
            <a:endParaRPr sz="3000"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4225" y="1208400"/>
            <a:ext cx="5734050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22222"/>
                </a:solidFill>
                <a:highlight>
                  <a:srgbClr val="FFFFFF"/>
                </a:highlight>
              </a:rPr>
              <a:t>Milestones &amp; Timeline</a:t>
            </a:r>
            <a:endParaRPr sz="3000"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75" y="1362075"/>
            <a:ext cx="7788050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22222"/>
                </a:solidFill>
                <a:highlight>
                  <a:srgbClr val="FFFFFF"/>
                </a:highlight>
              </a:rPr>
              <a:t>Output</a:t>
            </a:r>
            <a:endParaRPr sz="3000"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7800900" y="1066750"/>
            <a:ext cx="103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32323"/>
                </a:solidFill>
                <a:highlight>
                  <a:srgbClr val="FFFFFF"/>
                </a:highlight>
              </a:rPr>
              <a:t>Patents:</a:t>
            </a:r>
            <a:endParaRPr b="1" sz="1000">
              <a:solidFill>
                <a:srgbClr val="23232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1" lang="en-GB" sz="1000">
                <a:solidFill>
                  <a:srgbClr val="232323"/>
                </a:solidFill>
                <a:highlight>
                  <a:srgbClr val="FFFFFF"/>
                </a:highlight>
              </a:rPr>
              <a:t>Upcoming</a:t>
            </a:r>
            <a:endParaRPr b="1" sz="1000">
              <a:solidFill>
                <a:srgbClr val="232323"/>
              </a:solidFill>
              <a:highlight>
                <a:srgbClr val="FFFFFF"/>
              </a:highlight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23900"/>
            <a:ext cx="333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32323"/>
                </a:solidFill>
                <a:highlight>
                  <a:srgbClr val="FFFFFF"/>
                </a:highlight>
              </a:rPr>
              <a:t>Journal publications:</a:t>
            </a:r>
            <a:endParaRPr b="1" sz="1000">
              <a:solidFill>
                <a:srgbClr val="232323"/>
              </a:solidFill>
              <a:highlight>
                <a:srgbClr val="FFFFFF"/>
              </a:highlight>
            </a:endParaRPr>
          </a:p>
          <a:p>
            <a:pPr indent="-304800" lvl="0" marL="457200" rtl="0" algn="just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AutoNum type="arabicPeriod"/>
            </a:pPr>
            <a:r>
              <a:rPr lang="en-GB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S. Sinha, B. Lehman and P. Bharadwaj, "Life Extension of Lithium-Ion Battery: Degradation Comprehension, Modeling, Characterization, and Mitigation Strategies," </a:t>
            </a:r>
            <a:r>
              <a:rPr i="1" lang="en-GB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Open Journal of Power Electronics</a:t>
            </a:r>
            <a:r>
              <a:rPr lang="en-GB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7, pp. 1-27, 2026, doi: 10.1109/OJPEL.2025.3639205. </a:t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t/>
            </a:r>
            <a:endParaRPr b="1" sz="1000">
              <a:solidFill>
                <a:srgbClr val="232323"/>
              </a:solidFill>
              <a:highlight>
                <a:srgbClr val="FFFFFF"/>
              </a:highlight>
            </a:endParaRPr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841950" y="1123900"/>
            <a:ext cx="376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32323"/>
                </a:solidFill>
                <a:highlight>
                  <a:srgbClr val="FFFFFF"/>
                </a:highlight>
              </a:rPr>
              <a:t>Conferences:</a:t>
            </a:r>
            <a:endParaRPr b="1" sz="1000">
              <a:solidFill>
                <a:srgbClr val="232323"/>
              </a:solidFill>
              <a:highlight>
                <a:srgbClr val="FFFFFF"/>
              </a:highlight>
            </a:endParaRPr>
          </a:p>
          <a:p>
            <a:pPr indent="-304800" lvl="0" marL="457200" rtl="0" algn="just">
              <a:spcBef>
                <a:spcPts val="2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Times New Roman"/>
              <a:buAutoNum type="arabicPeriod"/>
            </a:pP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Y. Desai, S. Ghosh, and P. Bharadwaj, "Predicting Mechanically Induced Thermal Runaway Severity in Multi-Chemistry Lithium-Ion Cells Using LightGBM for Battery Safety Applications", IEEE 12th National Power Electronics Conference (NPEC 2025), NIT Calicut, December 14–16, 2025. </a:t>
            </a:r>
            <a:r>
              <a:rPr b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Paper Award</a:t>
            </a:r>
            <a:endParaRPr b="1" sz="1000">
              <a:solidFill>
                <a:srgbClr val="23232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